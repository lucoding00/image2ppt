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524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" descr="page_01.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524" cy="6858000"/>
          </a:xfrm>
          <a:prstGeom prst="rect">
            <a:avLst/>
          </a:prstGeom>
        </p:spPr>
      </p:pic>
      <p:sp>
        <p:nvSpPr>
          <p:cNvPr id="3" name="t000"/>
          <p:cNvSpPr txBox="1"/>
          <p:nvPr/>
        </p:nvSpPr>
        <p:spPr>
          <a:xfrm>
            <a:off x="763524" y="480060"/>
            <a:ext cx="4910328" cy="5257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0" i="0" lang="zh-CN" noProof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Quarterly Business Review</a:t>
            </a:r>
          </a:p>
        </p:txBody>
      </p:sp>
      <p:sp>
        <p:nvSpPr>
          <p:cNvPr id="4" name="t001"/>
          <p:cNvSpPr txBox="1"/>
          <p:nvPr/>
        </p:nvSpPr>
        <p:spPr>
          <a:xfrm>
            <a:off x="763524" y="1115568"/>
            <a:ext cx="2980944" cy="2788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 lang="zh-CN" noProof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Key results and next quarter plan</a:t>
            </a:r>
          </a:p>
        </p:txBody>
      </p:sp>
      <p:sp>
        <p:nvSpPr>
          <p:cNvPr id="5" name="t002"/>
          <p:cNvSpPr txBox="1"/>
          <p:nvPr/>
        </p:nvSpPr>
        <p:spPr>
          <a:xfrm>
            <a:off x="1065276" y="2400300"/>
            <a:ext cx="795528" cy="2606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 lang="zh-CN" noProof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Revenue</a:t>
            </a:r>
          </a:p>
        </p:txBody>
      </p:sp>
      <p:sp>
        <p:nvSpPr>
          <p:cNvPr id="6" name="t003"/>
          <p:cNvSpPr txBox="1"/>
          <p:nvPr/>
        </p:nvSpPr>
        <p:spPr>
          <a:xfrm>
            <a:off x="4750308" y="2400300"/>
            <a:ext cx="530352" cy="2606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 lang="zh-CN" noProof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Users</a:t>
            </a:r>
          </a:p>
        </p:txBody>
      </p:sp>
      <p:sp>
        <p:nvSpPr>
          <p:cNvPr id="7" name="t004"/>
          <p:cNvSpPr txBox="1"/>
          <p:nvPr/>
        </p:nvSpPr>
        <p:spPr>
          <a:xfrm>
            <a:off x="8430768" y="2400300"/>
            <a:ext cx="882396" cy="2606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 lang="zh-CN" noProof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Retention</a:t>
            </a:r>
          </a:p>
        </p:txBody>
      </p:sp>
      <p:sp>
        <p:nvSpPr>
          <p:cNvPr id="8" name="t005"/>
          <p:cNvSpPr txBox="1"/>
          <p:nvPr/>
        </p:nvSpPr>
        <p:spPr>
          <a:xfrm>
            <a:off x="1065276" y="2967228"/>
            <a:ext cx="1202436" cy="594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700" b="0" i="0" lang="zh-CN" noProof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$4.2M</a:t>
            </a:r>
          </a:p>
        </p:txBody>
      </p:sp>
      <p:sp>
        <p:nvSpPr>
          <p:cNvPr id="9" name="t006"/>
          <p:cNvSpPr txBox="1"/>
          <p:nvPr/>
        </p:nvSpPr>
        <p:spPr>
          <a:xfrm>
            <a:off x="4750308" y="2967228"/>
            <a:ext cx="1033272" cy="594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700" b="0" i="0" lang="zh-CN" noProof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128K</a:t>
            </a:r>
          </a:p>
        </p:txBody>
      </p:sp>
      <p:sp>
        <p:nvSpPr>
          <p:cNvPr id="10" name="t007"/>
          <p:cNvSpPr txBox="1"/>
          <p:nvPr/>
        </p:nvSpPr>
        <p:spPr>
          <a:xfrm>
            <a:off x="8430768" y="2967228"/>
            <a:ext cx="864108" cy="594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700" b="0" i="0" lang="zh-CN" noProof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94%</a:t>
            </a:r>
          </a:p>
        </p:txBody>
      </p:sp>
      <p:sp>
        <p:nvSpPr>
          <p:cNvPr id="11" name="t008"/>
          <p:cNvSpPr txBox="1"/>
          <p:nvPr/>
        </p:nvSpPr>
        <p:spPr>
          <a:xfrm>
            <a:off x="1065276" y="3886200"/>
            <a:ext cx="786384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 lang="zh-CN" noProof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+18% YoY</a:t>
            </a:r>
          </a:p>
        </p:txBody>
      </p:sp>
      <p:sp>
        <p:nvSpPr>
          <p:cNvPr id="12" name="t009"/>
          <p:cNvSpPr txBox="1"/>
          <p:nvPr/>
        </p:nvSpPr>
        <p:spPr>
          <a:xfrm>
            <a:off x="4750308" y="3886200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 lang="zh-CN" noProof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+32K this quarter</a:t>
            </a:r>
          </a:p>
        </p:txBody>
      </p:sp>
      <p:sp>
        <p:nvSpPr>
          <p:cNvPr id="13" name="t010"/>
          <p:cNvSpPr txBox="1"/>
          <p:nvPr/>
        </p:nvSpPr>
        <p:spPr>
          <a:xfrm>
            <a:off x="8430768" y="3886200"/>
            <a:ext cx="116586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 lang="zh-CN" noProof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Industry leading</a:t>
            </a:r>
          </a:p>
        </p:txBody>
      </p:sp>
      <p:sp>
        <p:nvSpPr>
          <p:cNvPr id="14" name="t011"/>
          <p:cNvSpPr txBox="1"/>
          <p:nvPr/>
        </p:nvSpPr>
        <p:spPr>
          <a:xfrm>
            <a:off x="763524" y="5088636"/>
            <a:ext cx="1115568" cy="3154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 lang="zh-CN" noProof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Highlights</a:t>
            </a:r>
          </a:p>
        </p:txBody>
      </p:sp>
      <p:sp>
        <p:nvSpPr>
          <p:cNvPr id="15" name="t012"/>
          <p:cNvSpPr txBox="1"/>
          <p:nvPr/>
        </p:nvSpPr>
        <p:spPr>
          <a:xfrm>
            <a:off x="859536" y="5586984"/>
            <a:ext cx="3182112" cy="246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 lang="zh-CN" noProof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- Enterprise pipeline doubled to 42 deals</a:t>
            </a:r>
          </a:p>
        </p:txBody>
      </p:sp>
      <p:sp>
        <p:nvSpPr>
          <p:cNvPr id="16" name="t013"/>
          <p:cNvSpPr txBox="1"/>
          <p:nvPr/>
        </p:nvSpPr>
        <p:spPr>
          <a:xfrm>
            <a:off x="859536" y="5916168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 lang="zh-CN" noProof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- New onboarding flow cut activation time by 40%</a:t>
            </a:r>
          </a:p>
        </p:txBody>
      </p:sp>
      <p:sp>
        <p:nvSpPr>
          <p:cNvPr id="17" name="t014"/>
          <p:cNvSpPr txBox="1"/>
          <p:nvPr/>
        </p:nvSpPr>
        <p:spPr>
          <a:xfrm>
            <a:off x="859536" y="6249924"/>
            <a:ext cx="3250692" cy="24231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 lang="zh-CN" noProof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- APAC expansion on track for Q2 launch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