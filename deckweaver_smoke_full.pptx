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524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001" descr="v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025395"/>
            <a:ext cx="3328416" cy="2564892"/>
          </a:xfrm>
          <a:prstGeom prst="rect">
            <a:avLst/>
          </a:prstGeom>
        </p:spPr>
      </p:pic>
      <p:pic>
        <p:nvPicPr>
          <p:cNvPr id="3" name="v002" descr="v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412" y="2025395"/>
            <a:ext cx="3328416" cy="2564892"/>
          </a:xfrm>
          <a:prstGeom prst="rect">
            <a:avLst/>
          </a:prstGeom>
        </p:spPr>
      </p:pic>
      <p:pic>
        <p:nvPicPr>
          <p:cNvPr id="4" name="v003" descr="v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444" y="2025395"/>
            <a:ext cx="3323844" cy="2564892"/>
          </a:xfrm>
          <a:prstGeom prst="rect">
            <a:avLst/>
          </a:prstGeom>
        </p:spPr>
      </p:pic>
      <p:pic>
        <p:nvPicPr>
          <p:cNvPr id="5" name="v000" descr="v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0212" y="553212"/>
            <a:ext cx="685800" cy="685800"/>
          </a:xfrm>
          <a:prstGeom prst="rect">
            <a:avLst/>
          </a:prstGeom>
        </p:spPr>
      </p:pic>
      <p:sp>
        <p:nvSpPr>
          <p:cNvPr id="6" name="t000"/>
          <p:cNvSpPr txBox="1"/>
          <p:nvPr/>
        </p:nvSpPr>
        <p:spPr>
          <a:xfrm>
            <a:off x="763524" y="480060"/>
            <a:ext cx="5774436" cy="5349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 lang="zh-CN" noProof="1" dirty="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rPr>
              <a:t>Quarterly Business Review</a:t>
            </a:r>
          </a:p>
        </p:txBody>
      </p:sp>
      <p:sp>
        <p:nvSpPr>
          <p:cNvPr id="7" name="t001"/>
          <p:cNvSpPr txBox="1"/>
          <p:nvPr/>
        </p:nvSpPr>
        <p:spPr>
          <a:xfrm>
            <a:off x="763524" y="1115568"/>
            <a:ext cx="3931920" cy="2880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 lang="zh-CN" noProof="1" dirty="0">
                <a:solidFill>
                  <a:srgbClr val="596072"/>
                </a:solidFill>
                <a:latin typeface="Helvetica"/>
                <a:ea typeface="Helvetica"/>
                <a:cs typeface="Helvetica"/>
                <a:sym typeface="Helvetica"/>
              </a:rPr>
              <a:t>Key results and next quarter plan</a:t>
            </a:r>
          </a:p>
        </p:txBody>
      </p:sp>
      <p:sp>
        <p:nvSpPr>
          <p:cNvPr id="8" name="t002"/>
          <p:cNvSpPr txBox="1"/>
          <p:nvPr/>
        </p:nvSpPr>
        <p:spPr>
          <a:xfrm>
            <a:off x="1065276" y="2400300"/>
            <a:ext cx="982980" cy="2697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 lang="zh-CN" noProof="1" dirty="0">
                <a:solidFill>
                  <a:srgbClr val="3F4759"/>
                </a:solidFill>
                <a:latin typeface="Helvetica"/>
                <a:ea typeface="Helvetica"/>
                <a:cs typeface="Helvetica"/>
                <a:sym typeface="Helvetica"/>
              </a:rPr>
              <a:t>Revenue</a:t>
            </a:r>
          </a:p>
        </p:txBody>
      </p:sp>
      <p:sp>
        <p:nvSpPr>
          <p:cNvPr id="9" name="t003"/>
          <p:cNvSpPr txBox="1"/>
          <p:nvPr/>
        </p:nvSpPr>
        <p:spPr>
          <a:xfrm>
            <a:off x="4750308" y="2400300"/>
            <a:ext cx="713232" cy="2697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 lang="zh-CN" noProof="1" dirty="0">
                <a:solidFill>
                  <a:srgbClr val="3F4759"/>
                </a:solidFill>
                <a:latin typeface="Helvetica"/>
                <a:ea typeface="Helvetica"/>
                <a:cs typeface="Helvetica"/>
                <a:sym typeface="Helvetica"/>
              </a:rPr>
              <a:t>Users</a:t>
            </a:r>
          </a:p>
        </p:txBody>
      </p:sp>
      <p:sp>
        <p:nvSpPr>
          <p:cNvPr id="10" name="t004"/>
          <p:cNvSpPr txBox="1"/>
          <p:nvPr/>
        </p:nvSpPr>
        <p:spPr>
          <a:xfrm>
            <a:off x="8430768" y="2400300"/>
            <a:ext cx="1252728" cy="2697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 lang="zh-CN" noProof="1" dirty="0">
                <a:solidFill>
                  <a:srgbClr val="3F4759"/>
                </a:solidFill>
                <a:latin typeface="Helvetica"/>
                <a:ea typeface="Helvetica"/>
                <a:cs typeface="Helvetica"/>
                <a:sym typeface="Helvetica"/>
              </a:rPr>
              <a:t>Retention</a:t>
            </a:r>
          </a:p>
        </p:txBody>
      </p:sp>
      <p:sp>
        <p:nvSpPr>
          <p:cNvPr id="11" name="t005"/>
          <p:cNvSpPr txBox="1"/>
          <p:nvPr/>
        </p:nvSpPr>
        <p:spPr>
          <a:xfrm>
            <a:off x="1065276" y="2967228"/>
            <a:ext cx="1627632" cy="6035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$4.2M</a:t>
            </a:r>
          </a:p>
        </p:txBody>
      </p:sp>
      <p:sp>
        <p:nvSpPr>
          <p:cNvPr id="12" name="t006"/>
          <p:cNvSpPr txBox="1"/>
          <p:nvPr/>
        </p:nvSpPr>
        <p:spPr>
          <a:xfrm>
            <a:off x="4750308" y="2967228"/>
            <a:ext cx="1252728" cy="6035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 lang="zh-CN" noProof="1" dirty="0">
                <a:solidFill>
                  <a:srgbClr val="054798"/>
                </a:solidFill>
                <a:latin typeface="Aptos"/>
                <a:ea typeface="Aptos"/>
                <a:cs typeface="Aptos"/>
                <a:sym typeface="Aptos"/>
              </a:rPr>
              <a:t>128K</a:t>
            </a:r>
          </a:p>
        </p:txBody>
      </p:sp>
      <p:sp>
        <p:nvSpPr>
          <p:cNvPr id="13" name="t007"/>
          <p:cNvSpPr txBox="1"/>
          <p:nvPr/>
        </p:nvSpPr>
        <p:spPr>
          <a:xfrm>
            <a:off x="8695944" y="2967228"/>
            <a:ext cx="1188720" cy="6035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1" lang="zh-CN" noProof="1" dirty="0">
                <a:solidFill>
                  <a:srgbClr val="054798"/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14" name="t008"/>
          <p:cNvSpPr txBox="1"/>
          <p:nvPr/>
        </p:nvSpPr>
        <p:spPr>
          <a:xfrm>
            <a:off x="1065276" y="3886200"/>
            <a:ext cx="873252" cy="2377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 lang="zh-CN" noProof="1" dirty="0">
                <a:solidFill>
                  <a:srgbClr val="666D7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+18% YoY</a:t>
            </a:r>
          </a:p>
        </p:txBody>
      </p:sp>
      <p:sp>
        <p:nvSpPr>
          <p:cNvPr id="15" name="t009"/>
          <p:cNvSpPr txBox="1"/>
          <p:nvPr/>
        </p:nvSpPr>
        <p:spPr>
          <a:xfrm>
            <a:off x="4750308" y="3886200"/>
            <a:ext cx="1668780" cy="2377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 lang="zh-CN" noProof="1" dirty="0">
                <a:solidFill>
                  <a:srgbClr val="666D7F"/>
                </a:solidFill>
                <a:latin typeface="Helvetica"/>
                <a:ea typeface="Helvetica"/>
                <a:cs typeface="Helvetica"/>
                <a:sym typeface="Helvetica"/>
              </a:rPr>
              <a:t>+32K this quarter</a:t>
            </a:r>
          </a:p>
        </p:txBody>
      </p:sp>
      <p:sp>
        <p:nvSpPr>
          <p:cNvPr id="16" name="t010"/>
          <p:cNvSpPr txBox="1"/>
          <p:nvPr/>
        </p:nvSpPr>
        <p:spPr>
          <a:xfrm>
            <a:off x="8430768" y="3886200"/>
            <a:ext cx="1627632" cy="2377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 lang="zh-CN" noProof="1" dirty="0">
                <a:solidFill>
                  <a:srgbClr val="666D7F"/>
                </a:solidFill>
                <a:latin typeface="Helvetica"/>
                <a:ea typeface="Helvetica"/>
                <a:cs typeface="Helvetica"/>
                <a:sym typeface="Helvetica"/>
              </a:rPr>
              <a:t>Industry leading</a:t>
            </a:r>
          </a:p>
        </p:txBody>
      </p:sp>
      <p:sp>
        <p:nvSpPr>
          <p:cNvPr id="17" name="t011"/>
          <p:cNvSpPr txBox="1"/>
          <p:nvPr/>
        </p:nvSpPr>
        <p:spPr>
          <a:xfrm>
            <a:off x="763524" y="5088636"/>
            <a:ext cx="1559052" cy="3246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 lang="zh-CN" noProof="1" dirty="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rPr>
              <a:t>Highlights</a:t>
            </a:r>
          </a:p>
        </p:txBody>
      </p:sp>
      <p:sp>
        <p:nvSpPr>
          <p:cNvPr id="18" name="t012"/>
          <p:cNvSpPr txBox="1"/>
          <p:nvPr/>
        </p:nvSpPr>
        <p:spPr>
          <a:xfrm>
            <a:off x="859536" y="5586984"/>
            <a:ext cx="4261104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 lang="zh-CN" noProof="1" dirty="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rPr>
              <a:t>- Enterprise pipeline doubled to 42 deals</a:t>
            </a:r>
          </a:p>
        </p:txBody>
      </p:sp>
      <p:sp>
        <p:nvSpPr>
          <p:cNvPr id="19" name="t013"/>
          <p:cNvSpPr txBox="1"/>
          <p:nvPr/>
        </p:nvSpPr>
        <p:spPr>
          <a:xfrm>
            <a:off x="859536" y="591616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 lang="zh-CN" noProof="1" dirty="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rPr>
              <a:t>- New onboarding flow cut activation time by 40%</a:t>
            </a:r>
          </a:p>
        </p:txBody>
      </p:sp>
      <p:sp>
        <p:nvSpPr>
          <p:cNvPr id="20" name="t014"/>
          <p:cNvSpPr txBox="1"/>
          <p:nvPr/>
        </p:nvSpPr>
        <p:spPr>
          <a:xfrm>
            <a:off x="859536" y="6249924"/>
            <a:ext cx="400050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 lang="zh-CN" noProof="1" dirty="0">
                <a:solidFill>
                  <a:srgbClr val="222222"/>
                </a:solidFill>
                <a:latin typeface="Helvetica"/>
                <a:ea typeface="Helvetica"/>
                <a:cs typeface="Helvetica"/>
                <a:sym typeface="Helvetica"/>
              </a:rPr>
              <a:t>- APAC expansion on track for Q2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