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v003" descr="v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124712"/>
            <a:ext cx="8513064" cy="4855464"/>
          </a:xfrm>
          <a:prstGeom prst="rect">
            <a:avLst/>
          </a:prstGeom>
        </p:spPr>
      </p:pic>
      <p:pic>
        <p:nvPicPr>
          <p:cNvPr id="3" name="v002" descr="v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124712"/>
            <a:ext cx="3328416" cy="4855464"/>
          </a:xfrm>
          <a:prstGeom prst="rect">
            <a:avLst/>
          </a:prstGeom>
        </p:spPr>
      </p:pic>
      <p:pic>
        <p:nvPicPr>
          <p:cNvPr id="4" name="v006" descr="v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848" y="2112264"/>
            <a:ext cx="2852928" cy="3666744"/>
          </a:xfrm>
          <a:prstGeom prst="rect">
            <a:avLst/>
          </a:prstGeom>
        </p:spPr>
      </p:pic>
      <p:pic>
        <p:nvPicPr>
          <p:cNvPr id="5" name="v011" descr="v0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9936" y="2523744"/>
            <a:ext cx="4480560" cy="2148840"/>
          </a:xfrm>
          <a:prstGeom prst="rect">
            <a:avLst/>
          </a:prstGeom>
        </p:spPr>
      </p:pic>
      <p:pic>
        <p:nvPicPr>
          <p:cNvPr id="6" name="v013" descr="v0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4846320"/>
            <a:ext cx="3026664" cy="969264"/>
          </a:xfrm>
          <a:prstGeom prst="rect">
            <a:avLst/>
          </a:prstGeom>
        </p:spPr>
      </p:pic>
      <p:pic>
        <p:nvPicPr>
          <p:cNvPr id="7" name="v012" descr="v01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4114800"/>
            <a:ext cx="3291840" cy="630936"/>
          </a:xfrm>
          <a:prstGeom prst="rect">
            <a:avLst/>
          </a:prstGeom>
        </p:spPr>
      </p:pic>
      <p:pic>
        <p:nvPicPr>
          <p:cNvPr id="8" name="v036" descr="v03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0648" y="3429000"/>
            <a:ext cx="1170432" cy="1344168"/>
          </a:xfrm>
          <a:prstGeom prst="rect">
            <a:avLst/>
          </a:prstGeom>
        </p:spPr>
      </p:pic>
      <p:pic>
        <p:nvPicPr>
          <p:cNvPr id="9" name="v032" descr="v03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33288" y="1444752"/>
            <a:ext cx="1152144" cy="1307592"/>
          </a:xfrm>
          <a:prstGeom prst="rect">
            <a:avLst/>
          </a:prstGeom>
        </p:spPr>
      </p:pic>
      <p:pic>
        <p:nvPicPr>
          <p:cNvPr id="10" name="v035" descr="v03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50208" y="3429000"/>
            <a:ext cx="1115568" cy="1344168"/>
          </a:xfrm>
          <a:prstGeom prst="rect">
            <a:avLst/>
          </a:prstGeom>
        </p:spPr>
      </p:pic>
      <p:pic>
        <p:nvPicPr>
          <p:cNvPr id="11" name="v014" descr="v01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68112" y="5138928"/>
            <a:ext cx="1837944" cy="649224"/>
          </a:xfrm>
          <a:prstGeom prst="rect">
            <a:avLst/>
          </a:prstGeom>
        </p:spPr>
      </p:pic>
      <p:pic>
        <p:nvPicPr>
          <p:cNvPr id="12" name="v001" descr="v00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886968"/>
            <a:ext cx="11795760" cy="82296"/>
          </a:xfrm>
          <a:prstGeom prst="rect">
            <a:avLst/>
          </a:prstGeom>
        </p:spPr>
      </p:pic>
      <p:pic>
        <p:nvPicPr>
          <p:cNvPr id="13" name="v004" descr="v004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29400" y="1261872"/>
            <a:ext cx="2322576" cy="393192"/>
          </a:xfrm>
          <a:prstGeom prst="rect">
            <a:avLst/>
          </a:prstGeom>
        </p:spPr>
      </p:pic>
      <p:pic>
        <p:nvPicPr>
          <p:cNvPr id="14" name="v018" descr="v018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57600" y="5276088"/>
            <a:ext cx="1645920" cy="457200"/>
          </a:xfrm>
          <a:prstGeom prst="rect">
            <a:avLst/>
          </a:prstGeom>
        </p:spPr>
      </p:pic>
      <p:pic>
        <p:nvPicPr>
          <p:cNvPr id="15" name="v009" descr="v009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7744" y="2295144"/>
            <a:ext cx="3246120" cy="228600"/>
          </a:xfrm>
          <a:prstGeom prst="rect">
            <a:avLst/>
          </a:prstGeom>
        </p:spPr>
      </p:pic>
      <p:pic>
        <p:nvPicPr>
          <p:cNvPr id="16" name="v024" descr="v02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68880" y="6108192"/>
            <a:ext cx="9592056" cy="45720"/>
          </a:xfrm>
          <a:prstGeom prst="rect">
            <a:avLst/>
          </a:prstGeom>
        </p:spPr>
      </p:pic>
      <p:pic>
        <p:nvPicPr>
          <p:cNvPr id="17" name="v027" descr="v027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13432" y="4901184"/>
            <a:ext cx="676656" cy="612648"/>
          </a:xfrm>
          <a:prstGeom prst="rect">
            <a:avLst/>
          </a:prstGeom>
        </p:spPr>
      </p:pic>
      <p:pic>
        <p:nvPicPr>
          <p:cNvPr id="18" name="v041" descr="v041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25712" y="4489704"/>
            <a:ext cx="630936" cy="640080"/>
          </a:xfrm>
          <a:prstGeom prst="rect">
            <a:avLst/>
          </a:prstGeom>
        </p:spPr>
      </p:pic>
      <p:pic>
        <p:nvPicPr>
          <p:cNvPr id="19" name="v040" descr="v040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25712" y="3730752"/>
            <a:ext cx="630936" cy="630936"/>
          </a:xfrm>
          <a:prstGeom prst="rect">
            <a:avLst/>
          </a:prstGeom>
        </p:spPr>
      </p:pic>
      <p:pic>
        <p:nvPicPr>
          <p:cNvPr id="20" name="v033" descr="v033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34856" y="2194560"/>
            <a:ext cx="621792" cy="630936"/>
          </a:xfrm>
          <a:prstGeom prst="rect">
            <a:avLst/>
          </a:prstGeom>
        </p:spPr>
      </p:pic>
      <p:pic>
        <p:nvPicPr>
          <p:cNvPr id="21" name="v034" descr="v034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34856" y="2971800"/>
            <a:ext cx="621792" cy="621792"/>
          </a:xfrm>
          <a:prstGeom prst="rect">
            <a:avLst/>
          </a:prstGeom>
        </p:spPr>
      </p:pic>
      <p:pic>
        <p:nvPicPr>
          <p:cNvPr id="22" name="v023" descr="v023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296" y="6025896"/>
            <a:ext cx="1746504" cy="219456"/>
          </a:xfrm>
          <a:prstGeom prst="rect">
            <a:avLst/>
          </a:prstGeom>
        </p:spPr>
      </p:pic>
      <p:pic>
        <p:nvPicPr>
          <p:cNvPr id="23" name="v015" descr="v015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516368" y="5221224"/>
            <a:ext cx="1408176" cy="201168"/>
          </a:xfrm>
          <a:prstGeom prst="rect">
            <a:avLst/>
          </a:prstGeom>
        </p:spPr>
      </p:pic>
      <p:pic>
        <p:nvPicPr>
          <p:cNvPr id="24" name="v028" descr="v028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7512" y="4928616"/>
            <a:ext cx="493776" cy="566928"/>
          </a:xfrm>
          <a:prstGeom prst="rect">
            <a:avLst/>
          </a:prstGeom>
        </p:spPr>
      </p:pic>
      <p:pic>
        <p:nvPicPr>
          <p:cNvPr id="25" name="v016" descr="v016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34072" y="5532120"/>
            <a:ext cx="1280160" cy="210312"/>
          </a:xfrm>
          <a:prstGeom prst="rect">
            <a:avLst/>
          </a:prstGeom>
        </p:spPr>
      </p:pic>
      <p:pic>
        <p:nvPicPr>
          <p:cNvPr id="26" name="v029" descr="v029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508760" y="5047488"/>
            <a:ext cx="557784" cy="466344"/>
          </a:xfrm>
          <a:prstGeom prst="rect">
            <a:avLst/>
          </a:prstGeom>
        </p:spPr>
      </p:pic>
      <p:pic>
        <p:nvPicPr>
          <p:cNvPr id="27" name="v026" descr="v026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4320" y="1152144"/>
            <a:ext cx="512064" cy="493776"/>
          </a:xfrm>
          <a:prstGeom prst="rect">
            <a:avLst/>
          </a:prstGeom>
        </p:spPr>
      </p:pic>
      <p:pic>
        <p:nvPicPr>
          <p:cNvPr id="28" name="v019" descr="v019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296" y="6025896"/>
            <a:ext cx="1316736" cy="192024"/>
          </a:xfrm>
          <a:prstGeom prst="rect">
            <a:avLst/>
          </a:prstGeom>
        </p:spPr>
      </p:pic>
      <p:pic>
        <p:nvPicPr>
          <p:cNvPr id="29" name="v030" descr="v030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703320" y="1152144"/>
            <a:ext cx="502920" cy="493776"/>
          </a:xfrm>
          <a:prstGeom prst="rect">
            <a:avLst/>
          </a:prstGeom>
        </p:spPr>
      </p:pic>
      <p:pic>
        <p:nvPicPr>
          <p:cNvPr id="30" name="v037" descr="v037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135624" y="4526280"/>
            <a:ext cx="374904" cy="612648"/>
          </a:xfrm>
          <a:prstGeom prst="rect">
            <a:avLst/>
          </a:prstGeom>
        </p:spPr>
      </p:pic>
      <p:pic>
        <p:nvPicPr>
          <p:cNvPr id="31" name="v017" descr="v017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614416" y="5257800"/>
            <a:ext cx="457200" cy="402336"/>
          </a:xfrm>
          <a:prstGeom prst="rect">
            <a:avLst/>
          </a:prstGeom>
        </p:spPr>
      </p:pic>
      <p:pic>
        <p:nvPicPr>
          <p:cNvPr id="32" name="v022" descr="v022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459736" y="6108192"/>
            <a:ext cx="9573768" cy="18288"/>
          </a:xfrm>
          <a:prstGeom prst="rect">
            <a:avLst/>
          </a:prstGeom>
        </p:spPr>
      </p:pic>
      <p:pic>
        <p:nvPicPr>
          <p:cNvPr id="33" name="v005" descr="v005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56032" y="1664208"/>
            <a:ext cx="411480" cy="411480"/>
          </a:xfrm>
          <a:prstGeom prst="rect">
            <a:avLst/>
          </a:prstGeom>
        </p:spPr>
      </p:pic>
      <p:pic>
        <p:nvPicPr>
          <p:cNvPr id="34" name="v010" descr="v010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46888" y="2459736"/>
            <a:ext cx="420624" cy="374904"/>
          </a:xfrm>
          <a:prstGeom prst="rect">
            <a:avLst/>
          </a:prstGeom>
        </p:spPr>
      </p:pic>
      <p:pic>
        <p:nvPicPr>
          <p:cNvPr id="35" name="v031" descr="v031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732520" y="1225296"/>
            <a:ext cx="228600" cy="438912"/>
          </a:xfrm>
          <a:prstGeom prst="rect">
            <a:avLst/>
          </a:prstGeom>
        </p:spPr>
      </p:pic>
      <p:pic>
        <p:nvPicPr>
          <p:cNvPr id="36" name="v025" descr="v025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272016" y="5367528"/>
            <a:ext cx="301752" cy="310896"/>
          </a:xfrm>
          <a:prstGeom prst="rect">
            <a:avLst/>
          </a:prstGeom>
        </p:spPr>
      </p:pic>
      <p:pic>
        <p:nvPicPr>
          <p:cNvPr id="37" name="v039" descr="v039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315200" y="5321808"/>
            <a:ext cx="256032" cy="347472"/>
          </a:xfrm>
          <a:prstGeom prst="rect">
            <a:avLst/>
          </a:prstGeom>
        </p:spPr>
      </p:pic>
      <p:pic>
        <p:nvPicPr>
          <p:cNvPr id="38" name="v038" descr="v038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659368" y="5349240"/>
            <a:ext cx="246888" cy="347472"/>
          </a:xfrm>
          <a:prstGeom prst="rect">
            <a:avLst/>
          </a:prstGeom>
        </p:spPr>
      </p:pic>
      <p:pic>
        <p:nvPicPr>
          <p:cNvPr id="39" name="v007" descr="v007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577840" y="2240280"/>
            <a:ext cx="283464" cy="292608"/>
          </a:xfrm>
          <a:prstGeom prst="rect">
            <a:avLst/>
          </a:prstGeom>
        </p:spPr>
      </p:pic>
      <p:pic>
        <p:nvPicPr>
          <p:cNvPr id="40" name="v008" descr="v008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784848" y="2249424"/>
            <a:ext cx="246888" cy="283464"/>
          </a:xfrm>
          <a:prstGeom prst="rect">
            <a:avLst/>
          </a:prstGeom>
        </p:spPr>
      </p:pic>
      <p:pic>
        <p:nvPicPr>
          <p:cNvPr id="41" name="v020" descr="v020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572768" y="6099048"/>
            <a:ext cx="54864" cy="45720"/>
          </a:xfrm>
          <a:prstGeom prst="rect">
            <a:avLst/>
          </a:prstGeom>
        </p:spPr>
      </p:pic>
      <p:pic>
        <p:nvPicPr>
          <p:cNvPr id="42" name="v021" descr="v021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2267712" y="6099048"/>
            <a:ext cx="45720" cy="45720"/>
          </a:xfrm>
          <a:prstGeom prst="rect">
            <a:avLst/>
          </a:prstGeom>
        </p:spPr>
      </p:pic>
      <p:sp>
        <p:nvSpPr>
          <p:cNvPr id="43" name="t000"/>
          <p:cNvSpPr txBox="1"/>
          <p:nvPr/>
        </p:nvSpPr>
        <p:spPr>
          <a:xfrm>
            <a:off x="210312" y="45720"/>
            <a:ext cx="7050024" cy="39319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应用案例：跨运营商网间互联结算×隐私计算</a:t>
            </a:r>
          </a:p>
        </p:txBody>
      </p:sp>
      <p:sp>
        <p:nvSpPr>
          <p:cNvPr id="44" name="t001"/>
          <p:cNvSpPr txBox="1"/>
          <p:nvPr/>
        </p:nvSpPr>
        <p:spPr>
          <a:xfrm>
            <a:off x="192024" y="548640"/>
            <a:ext cx="5733288" cy="23774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 lang="zh-CN" noProof="1" dirty="0">
                <a:solidFill>
                  <a:srgbClr val="838383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账单数据不出域完成多方核对，构建多方协同的密态对账新范式</a:t>
            </a:r>
          </a:p>
        </p:txBody>
      </p:sp>
      <p:sp>
        <p:nvSpPr>
          <p:cNvPr id="45" name="t003"/>
          <p:cNvSpPr txBox="1"/>
          <p:nvPr/>
        </p:nvSpPr>
        <p:spPr>
          <a:xfrm>
            <a:off x="4251960" y="1216152"/>
            <a:ext cx="1517904" cy="2834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 lang="zh-CN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隐私计算方案</a:t>
            </a:r>
          </a:p>
        </p:txBody>
      </p:sp>
      <p:sp>
        <p:nvSpPr>
          <p:cNvPr id="46" name="t002"/>
          <p:cNvSpPr txBox="1"/>
          <p:nvPr/>
        </p:nvSpPr>
        <p:spPr>
          <a:xfrm>
            <a:off x="786384" y="1243584"/>
            <a:ext cx="1161288" cy="3017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业务痛点</a:t>
            </a:r>
          </a:p>
        </p:txBody>
      </p:sp>
      <p:sp>
        <p:nvSpPr>
          <p:cNvPr id="47" name="t004"/>
          <p:cNvSpPr txBox="1"/>
          <p:nvPr/>
        </p:nvSpPr>
        <p:spPr>
          <a:xfrm>
            <a:off x="6839712" y="1325880"/>
            <a:ext cx="1901952" cy="2011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三方协同密态对账示意图</a:t>
            </a:r>
          </a:p>
        </p:txBody>
      </p:sp>
      <p:sp>
        <p:nvSpPr>
          <p:cNvPr id="48" name="t005"/>
          <p:cNvSpPr txBox="1"/>
          <p:nvPr/>
        </p:nvSpPr>
        <p:spPr>
          <a:xfrm>
            <a:off x="694944" y="1673352"/>
            <a:ext cx="2496312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三大运营商每月需核对网间互联结算</a:t>
            </a:r>
          </a:p>
        </p:txBody>
      </p:sp>
      <p:sp>
        <p:nvSpPr>
          <p:cNvPr id="49" name="t007"/>
          <p:cNvSpPr txBox="1"/>
          <p:nvPr/>
        </p:nvSpPr>
        <p:spPr>
          <a:xfrm>
            <a:off x="5943600" y="1883664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 lang="zh-CN" noProof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中国移动</a:t>
            </a:r>
          </a:p>
        </p:txBody>
      </p:sp>
      <p:sp>
        <p:nvSpPr>
          <p:cNvPr id="50" name="t006"/>
          <p:cNvSpPr txBox="1"/>
          <p:nvPr/>
        </p:nvSpPr>
        <p:spPr>
          <a:xfrm>
            <a:off x="694944" y="1901952"/>
            <a:ext cx="2395728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账单，涉及话务量、短信量、流量、</a:t>
            </a:r>
          </a:p>
        </p:txBody>
      </p:sp>
      <p:sp>
        <p:nvSpPr>
          <p:cNvPr id="51" name="t008"/>
          <p:cNvSpPr txBox="1"/>
          <p:nvPr/>
        </p:nvSpPr>
        <p:spPr>
          <a:xfrm>
            <a:off x="694944" y="2093976"/>
            <a:ext cx="1801368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信令使用情况等多维数据。</a:t>
            </a:r>
          </a:p>
        </p:txBody>
      </p:sp>
      <p:sp>
        <p:nvSpPr>
          <p:cNvPr id="52" name="t009"/>
          <p:cNvSpPr txBox="1"/>
          <p:nvPr/>
        </p:nvSpPr>
        <p:spPr>
          <a:xfrm>
            <a:off x="9784080" y="2322576"/>
            <a:ext cx="1819656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</a:t>
            </a:r>
            <a:r>
              <a:rPr sz="900" b="1" i="0" lang="zh-CN" noProof="1" dirty="0">
                <a:solidFill>
                  <a:srgbClr val="B3B3B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. </a:t>
            </a:r>
            <a:r>
              <a:rPr sz="9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基于安全多方计算</a:t>
            </a:r>
            <a:r>
              <a:rPr sz="9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(</a:t>
            </a:r>
            <a:r>
              <a:rPr sz="9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MPC</a:t>
            </a:r>
            <a:r>
              <a:rPr sz="900" b="1" i="0" lang="zh-CN" noProof="1" dirty="0">
                <a:solidFill>
                  <a:srgbClr val="B3B3B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)</a:t>
            </a:r>
          </a:p>
        </p:txBody>
      </p:sp>
      <p:sp>
        <p:nvSpPr>
          <p:cNvPr id="53" name="t010"/>
          <p:cNvSpPr txBox="1"/>
          <p:nvPr/>
        </p:nvSpPr>
        <p:spPr>
          <a:xfrm>
            <a:off x="694944" y="2487168"/>
            <a:ext cx="2496312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各家账单数据属于商业敏感信息，包</a:t>
            </a:r>
          </a:p>
        </p:txBody>
      </p:sp>
      <p:sp>
        <p:nvSpPr>
          <p:cNvPr id="54" name="t011"/>
          <p:cNvSpPr txBox="1"/>
          <p:nvPr/>
        </p:nvSpPr>
        <p:spPr>
          <a:xfrm>
            <a:off x="9784080" y="2551176"/>
            <a:ext cx="1426464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部署密态对账机制；</a:t>
            </a:r>
          </a:p>
        </p:txBody>
      </p:sp>
      <p:sp>
        <p:nvSpPr>
          <p:cNvPr id="55" name="t013"/>
          <p:cNvSpPr txBox="1"/>
          <p:nvPr/>
        </p:nvSpPr>
        <p:spPr>
          <a:xfrm>
            <a:off x="5596128" y="2660904"/>
            <a:ext cx="1399032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原始账单本地保留</a:t>
            </a:r>
          </a:p>
        </p:txBody>
      </p:sp>
      <p:sp>
        <p:nvSpPr>
          <p:cNvPr id="56" name="t012"/>
          <p:cNvSpPr txBox="1"/>
          <p:nvPr/>
        </p:nvSpPr>
        <p:spPr>
          <a:xfrm>
            <a:off x="694944" y="2688336"/>
            <a:ext cx="2505456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含用户规模、业务结构、网络流向等</a:t>
            </a:r>
          </a:p>
        </p:txBody>
      </p:sp>
      <p:sp>
        <p:nvSpPr>
          <p:cNvPr id="57" name="t014"/>
          <p:cNvSpPr txBox="1"/>
          <p:nvPr/>
        </p:nvSpPr>
        <p:spPr>
          <a:xfrm>
            <a:off x="4416552" y="2770632"/>
            <a:ext cx="795528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密文比对</a:t>
            </a:r>
          </a:p>
        </p:txBody>
      </p:sp>
      <p:sp>
        <p:nvSpPr>
          <p:cNvPr id="58" name="t015"/>
          <p:cNvSpPr txBox="1"/>
          <p:nvPr/>
        </p:nvSpPr>
        <p:spPr>
          <a:xfrm>
            <a:off x="7488936" y="2770632"/>
            <a:ext cx="795528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密文比对</a:t>
            </a:r>
          </a:p>
        </p:txBody>
      </p:sp>
      <p:sp>
        <p:nvSpPr>
          <p:cNvPr id="59" name="t016"/>
          <p:cNvSpPr txBox="1"/>
          <p:nvPr/>
        </p:nvSpPr>
        <p:spPr>
          <a:xfrm>
            <a:off x="694944" y="2907792"/>
            <a:ext cx="2505456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关键经营情报；传统对账依赖明文或</a:t>
            </a:r>
          </a:p>
        </p:txBody>
      </p:sp>
      <p:sp>
        <p:nvSpPr>
          <p:cNvPr id="60" name="t018"/>
          <p:cNvSpPr txBox="1"/>
          <p:nvPr/>
        </p:nvSpPr>
        <p:spPr>
          <a:xfrm>
            <a:off x="9793224" y="3081528"/>
            <a:ext cx="1746504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</a:t>
            </a:r>
            <a:r>
              <a:rPr sz="900" b="1" i="0" lang="zh-CN" noProof="1" dirty="0">
                <a:solidFill>
                  <a:srgbClr val="9E9F9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. </a:t>
            </a:r>
            <a:r>
              <a:rPr sz="9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通过隐私求交 (PSI) 识别</a:t>
            </a:r>
          </a:p>
        </p:txBody>
      </p:sp>
      <p:sp>
        <p:nvSpPr>
          <p:cNvPr id="61" name="t017"/>
          <p:cNvSpPr txBox="1"/>
          <p:nvPr/>
        </p:nvSpPr>
        <p:spPr>
          <a:xfrm>
            <a:off x="694944" y="3127248"/>
            <a:ext cx="2551176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脱敏文件交换，存在合规与泄露风险。</a:t>
            </a:r>
          </a:p>
        </p:txBody>
      </p:sp>
      <p:sp>
        <p:nvSpPr>
          <p:cNvPr id="62" name="t020"/>
          <p:cNvSpPr txBox="1"/>
          <p:nvPr/>
        </p:nvSpPr>
        <p:spPr>
          <a:xfrm>
            <a:off x="9985248" y="3328416"/>
            <a:ext cx="1033272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致项与差异项；</a:t>
            </a:r>
          </a:p>
        </p:txBody>
      </p:sp>
      <p:sp>
        <p:nvSpPr>
          <p:cNvPr id="63" name="t019"/>
          <p:cNvSpPr txBox="1"/>
          <p:nvPr/>
        </p:nvSpPr>
        <p:spPr>
          <a:xfrm>
            <a:off x="694944" y="3410712"/>
            <a:ext cx="2359152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 lang="zh-CN" noProof="1" dirty="0">
                <a:solidFill>
                  <a:srgbClr val="D43E3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核心矛盾：既要核对，又要保密</a:t>
            </a:r>
          </a:p>
        </p:txBody>
      </p:sp>
      <p:sp>
        <p:nvSpPr>
          <p:cNvPr id="64" name="t021"/>
          <p:cNvSpPr txBox="1"/>
          <p:nvPr/>
        </p:nvSpPr>
        <p:spPr>
          <a:xfrm>
            <a:off x="6089904" y="3593592"/>
            <a:ext cx="429768" cy="2011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 lang="zh-CN" noProof="1" dirty="0">
                <a:solidFill>
                  <a:srgbClr val="054798"/>
                </a:solidFill>
                <a:latin typeface="Corbel"/>
                <a:ea typeface="Corbel"/>
                <a:cs typeface="Corbel"/>
                <a:sym typeface="Corbel"/>
              </a:rPr>
              <a:t>MPC</a:t>
            </a:r>
          </a:p>
        </p:txBody>
      </p:sp>
      <p:sp>
        <p:nvSpPr>
          <p:cNvPr id="65" name="t022"/>
          <p:cNvSpPr txBox="1"/>
          <p:nvPr/>
        </p:nvSpPr>
        <p:spPr>
          <a:xfrm>
            <a:off x="694944" y="3694176"/>
            <a:ext cx="2496312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不符合《电信和互联网用户个人信息</a:t>
            </a:r>
          </a:p>
        </p:txBody>
      </p:sp>
      <p:sp>
        <p:nvSpPr>
          <p:cNvPr id="66" name="t024"/>
          <p:cNvSpPr txBox="1"/>
          <p:nvPr/>
        </p:nvSpPr>
        <p:spPr>
          <a:xfrm>
            <a:off x="5724144" y="3794760"/>
            <a:ext cx="1143000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密态对账平台</a:t>
            </a:r>
          </a:p>
        </p:txBody>
      </p:sp>
      <p:sp>
        <p:nvSpPr>
          <p:cNvPr id="67" name="t023"/>
          <p:cNvSpPr txBox="1"/>
          <p:nvPr/>
        </p:nvSpPr>
        <p:spPr>
          <a:xfrm>
            <a:off x="4123944" y="3849624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 lang="zh-CN" noProof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中国电信</a:t>
            </a:r>
          </a:p>
        </p:txBody>
      </p:sp>
      <p:sp>
        <p:nvSpPr>
          <p:cNvPr id="68" name="t027"/>
          <p:cNvSpPr txBox="1"/>
          <p:nvPr/>
        </p:nvSpPr>
        <p:spPr>
          <a:xfrm>
            <a:off x="9802368" y="3849624"/>
            <a:ext cx="1911095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3</a:t>
            </a:r>
            <a:r>
              <a:rPr sz="9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. </a:t>
            </a:r>
            <a:r>
              <a:rPr sz="9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差异项以密文完成二次核验</a:t>
            </a:r>
          </a:p>
        </p:txBody>
      </p:sp>
      <p:sp>
        <p:nvSpPr>
          <p:cNvPr id="69" name="t026"/>
          <p:cNvSpPr txBox="1"/>
          <p:nvPr/>
        </p:nvSpPr>
        <p:spPr>
          <a:xfrm>
            <a:off x="7699248" y="3867912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 lang="zh-CN" noProof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中国联通</a:t>
            </a:r>
          </a:p>
        </p:txBody>
      </p:sp>
      <p:sp>
        <p:nvSpPr>
          <p:cNvPr id="70" name="t025"/>
          <p:cNvSpPr txBox="1"/>
          <p:nvPr/>
        </p:nvSpPr>
        <p:spPr>
          <a:xfrm>
            <a:off x="694944" y="3895344"/>
            <a:ext cx="2487168" cy="2011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保护规定》对运营商数据保护要求。</a:t>
            </a:r>
          </a:p>
        </p:txBody>
      </p:sp>
      <p:sp>
        <p:nvSpPr>
          <p:cNvPr id="71" name="t028"/>
          <p:cNvSpPr txBox="1"/>
          <p:nvPr/>
        </p:nvSpPr>
        <p:spPr>
          <a:xfrm>
            <a:off x="9756648" y="4069080"/>
            <a:ext cx="859536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与聚合；</a:t>
            </a:r>
          </a:p>
        </p:txBody>
      </p:sp>
      <p:sp>
        <p:nvSpPr>
          <p:cNvPr id="72" name="t030"/>
          <p:cNvSpPr txBox="1"/>
          <p:nvPr/>
        </p:nvSpPr>
        <p:spPr>
          <a:xfrm>
            <a:off x="5907024" y="4315968"/>
            <a:ext cx="795528" cy="210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密文比对</a:t>
            </a:r>
          </a:p>
        </p:txBody>
      </p:sp>
      <p:sp>
        <p:nvSpPr>
          <p:cNvPr id="73" name="t029"/>
          <p:cNvSpPr txBox="1"/>
          <p:nvPr/>
        </p:nvSpPr>
        <p:spPr>
          <a:xfrm>
            <a:off x="694944" y="4334256"/>
            <a:ext cx="2450592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既要完成核对，又要保护敏感数据，</a:t>
            </a:r>
          </a:p>
        </p:txBody>
      </p:sp>
      <p:sp>
        <p:nvSpPr>
          <p:cNvPr id="74" name="t031"/>
          <p:cNvSpPr txBox="1"/>
          <p:nvPr/>
        </p:nvSpPr>
        <p:spPr>
          <a:xfrm>
            <a:off x="694944" y="4526280"/>
            <a:ext cx="1883664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lang="zh-CN" noProof="1" dirty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成为长期未解的行业痛点。</a:t>
            </a:r>
          </a:p>
        </p:txBody>
      </p:sp>
      <p:sp>
        <p:nvSpPr>
          <p:cNvPr id="75" name="t034"/>
          <p:cNvSpPr txBox="1"/>
          <p:nvPr/>
        </p:nvSpPr>
        <p:spPr>
          <a:xfrm>
            <a:off x="9793224" y="4617720"/>
            <a:ext cx="1911095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4</a:t>
            </a:r>
            <a:r>
              <a:rPr sz="9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. </a:t>
            </a:r>
            <a:r>
              <a:rPr sz="9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全流程操作记录上链</a:t>
            </a:r>
            <a:r>
              <a:rPr sz="900" b="1" i="0" lang="zh-CN" noProof="1" dirty="0">
                <a:solidFill>
                  <a:srgbClr val="B7B8B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，</a:t>
            </a:r>
            <a:r>
              <a:rPr sz="9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争议</a:t>
            </a:r>
          </a:p>
        </p:txBody>
      </p:sp>
      <p:sp>
        <p:nvSpPr>
          <p:cNvPr id="76" name="t032"/>
          <p:cNvSpPr txBox="1"/>
          <p:nvPr/>
        </p:nvSpPr>
        <p:spPr>
          <a:xfrm>
            <a:off x="3913632" y="4690872"/>
            <a:ext cx="1188720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原始账单本地保留</a:t>
            </a:r>
          </a:p>
        </p:txBody>
      </p:sp>
      <p:sp>
        <p:nvSpPr>
          <p:cNvPr id="77" name="t033"/>
          <p:cNvSpPr txBox="1"/>
          <p:nvPr/>
        </p:nvSpPr>
        <p:spPr>
          <a:xfrm>
            <a:off x="7488936" y="4690872"/>
            <a:ext cx="1188720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原始账单本地保留</a:t>
            </a:r>
          </a:p>
        </p:txBody>
      </p:sp>
      <p:sp>
        <p:nvSpPr>
          <p:cNvPr id="78" name="t035"/>
          <p:cNvSpPr txBox="1"/>
          <p:nvPr/>
        </p:nvSpPr>
        <p:spPr>
          <a:xfrm>
            <a:off x="9774936" y="4855464"/>
            <a:ext cx="1298448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处理可追溯可审计。</a:t>
            </a:r>
          </a:p>
        </p:txBody>
      </p:sp>
      <p:sp>
        <p:nvSpPr>
          <p:cNvPr id="79" name="t037"/>
          <p:cNvSpPr txBox="1"/>
          <p:nvPr/>
        </p:nvSpPr>
        <p:spPr>
          <a:xfrm>
            <a:off x="6126480" y="5266944"/>
            <a:ext cx="1042416" cy="2743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结算金额</a:t>
            </a:r>
          </a:p>
        </p:txBody>
      </p:sp>
      <p:sp>
        <p:nvSpPr>
          <p:cNvPr id="80" name="t036"/>
          <p:cNvSpPr txBox="1"/>
          <p:nvPr/>
        </p:nvSpPr>
        <p:spPr>
          <a:xfrm>
            <a:off x="4087368" y="5340096"/>
            <a:ext cx="1234440" cy="2011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原始数据不出域</a:t>
            </a:r>
          </a:p>
        </p:txBody>
      </p:sp>
      <p:sp>
        <p:nvSpPr>
          <p:cNvPr id="81" name="t038"/>
          <p:cNvSpPr txBox="1"/>
          <p:nvPr/>
        </p:nvSpPr>
        <p:spPr>
          <a:xfrm>
            <a:off x="7488936" y="5349240"/>
            <a:ext cx="1197864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仅此节点呈现明文</a:t>
            </a:r>
          </a:p>
        </p:txBody>
      </p:sp>
      <p:sp>
        <p:nvSpPr>
          <p:cNvPr id="82" name="t039"/>
          <p:cNvSpPr txBox="1"/>
          <p:nvPr/>
        </p:nvSpPr>
        <p:spPr>
          <a:xfrm>
            <a:off x="9601200" y="5413248"/>
            <a:ext cx="1472184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仅结算结果还原为明文</a:t>
            </a:r>
          </a:p>
        </p:txBody>
      </p:sp>
      <p:sp>
        <p:nvSpPr>
          <p:cNvPr id="83" name="t040"/>
          <p:cNvSpPr txBox="1"/>
          <p:nvPr/>
        </p:nvSpPr>
        <p:spPr>
          <a:xfrm>
            <a:off x="393192" y="5513832"/>
            <a:ext cx="1344168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明文交换</a:t>
            </a:r>
            <a:r>
              <a:rPr sz="10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/</a:t>
            </a:r>
            <a:r>
              <a:rPr sz="10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脱敏文件</a:t>
            </a:r>
          </a:p>
        </p:txBody>
      </p:sp>
      <p:sp>
        <p:nvSpPr>
          <p:cNvPr id="84" name="t041"/>
          <p:cNvSpPr txBox="1"/>
          <p:nvPr/>
        </p:nvSpPr>
        <p:spPr>
          <a:xfrm>
            <a:off x="2157984" y="5513832"/>
            <a:ext cx="1133856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合规与泄露风险</a:t>
            </a:r>
          </a:p>
        </p:txBody>
      </p:sp>
      <p:sp>
        <p:nvSpPr>
          <p:cNvPr id="85" name="t042"/>
          <p:cNvSpPr txBox="1"/>
          <p:nvPr/>
        </p:nvSpPr>
        <p:spPr>
          <a:xfrm>
            <a:off x="1362456" y="6181344"/>
            <a:ext cx="7461504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合规依据</a:t>
            </a:r>
            <a:r>
              <a:rPr sz="900" b="0" i="0" lang="zh-CN" noProof="1" dirty="0">
                <a:solidFill>
                  <a:srgbClr val="CBCAC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：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工信部《</a:t>
            </a:r>
            <a:r>
              <a:rPr sz="900" b="0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电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信和互联网</a:t>
            </a:r>
            <a:r>
              <a:rPr sz="900" b="0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用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户个人信息保护规定》https://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www.gov.cn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/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zhengce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/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2020-12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/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26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/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content_5573600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.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htm</a:t>
            </a:r>
          </a:p>
        </p:txBody>
      </p:sp>
      <p:sp>
        <p:nvSpPr>
          <p:cNvPr id="86" name="t043"/>
          <p:cNvSpPr txBox="1"/>
          <p:nvPr/>
        </p:nvSpPr>
        <p:spPr>
          <a:xfrm>
            <a:off x="265176" y="6272784"/>
            <a:ext cx="914400" cy="24688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数据来源</a:t>
            </a:r>
          </a:p>
        </p:txBody>
      </p:sp>
      <p:sp>
        <p:nvSpPr>
          <p:cNvPr id="87" name="t044"/>
          <p:cNvSpPr txBox="1"/>
          <p:nvPr/>
        </p:nvSpPr>
        <p:spPr>
          <a:xfrm>
            <a:off x="1362456" y="6400800"/>
            <a:ext cx="10158984" cy="1737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业务依据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：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工信部《</a:t>
            </a:r>
            <a:r>
              <a:rPr sz="900" b="0" i="0" lang="zh-CN" noProof="1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电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信网间互联结算办法》（部令第 40号</a:t>
            </a:r>
            <a:r>
              <a:rPr sz="900" b="0" i="0" lang="zh-CN" noProof="1" dirty="0">
                <a:solidFill>
                  <a:srgbClr val="CECFC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)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https://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www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.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miit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.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gov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.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cn/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zwgk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/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zcwj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/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wjfb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/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tg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/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art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/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2020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/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art_88d2db1717ba48e6868d29ba2bcb6cad</a:t>
            </a:r>
            <a:r>
              <a:rPr sz="900" b="0" i="0" lang="zh-CN" noProof="1" dirty="0">
                <a:solidFill>
                  <a:srgbClr val="CECFC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.</a:t>
            </a:r>
            <a:r>
              <a:rPr sz="9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html</a:t>
            </a:r>
          </a:p>
        </p:txBody>
      </p:sp>
      <p:sp>
        <p:nvSpPr>
          <p:cNvPr id="88" name="t045"/>
          <p:cNvSpPr txBox="1"/>
          <p:nvPr/>
        </p:nvSpPr>
        <p:spPr>
          <a:xfrm>
            <a:off x="11814048" y="6519672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 lang="zh-CN" noProof="1" dirty="0">
                <a:solidFill>
                  <a:srgbClr val="9A999B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